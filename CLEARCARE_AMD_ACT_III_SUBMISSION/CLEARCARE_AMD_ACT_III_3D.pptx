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1d75ca2-2776-494e-fc42-6b7856666cf3}">
          <p14:sldIdLst>
            <p14:sldId id="256"/>
          </p14:sldIdLst>
        </p14:section>
        <p14:section name="Problem" id="{16a6afa5-499f-9dad-5a15-c0fe91517877}">
          <p14:sldIdLst>
            <p14:sldId id="257"/>
            <p14:sldId id="258"/>
            <p14:sldId id="259"/>
          </p14:sldIdLst>
        </p14:section>
        <p14:section name="Solution" id="{322a1dae-7406-62c7-2996-a192d6418533}">
          <p14:sldIdLst>
            <p14:sldId id="260"/>
            <p14:sldId id="261"/>
            <p14:sldId id="262"/>
          </p14:sldIdLst>
        </p14:section>
        <p14:section name="Technology" id="{555e72be-bccf-f76e-8652-e0b5c408dc8e}">
          <p14:sldIdLst>
            <p14:sldId id="263"/>
            <p14:sldId id="264"/>
            <p14:sldId id="265"/>
            <p14:sldId id="266"/>
          </p14:sldIdLst>
        </p14:section>
        <p14:section name="Evidence" id="{b87b2737-30a7-20af-61f5-b93c97f83826}">
          <p14:sldIdLst>
            <p14:sldId id="267"/>
            <p14:sldId id="268"/>
          </p14:sldIdLst>
        </p14:section>
        <p14:section name="Value" id="{49dd9293-f664-070c-6351-7622b5e0cf3d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3"/>
                </a:solidFill>
                <a:latin typeface="+mn-lt"/>
              </a:rPr>
              <a:t>Automated results (counts)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1C8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 + integration</c:v>
                  </c:pt>
                  <c:pt idx="1">
                    <c:v>Original browser suite</c:v>
                  </c:pt>
                  <c:pt idx="2">
                    <c:v>Journey suite</c:v>
                  </c:pt>
                  <c:pt idx="3">
                    <c:v>Extraction checks</c:v>
                  </c:pt>
                  <c:pt idx="4">
                    <c:v>Safety cases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22</c:v>
                </c:pt>
                <c:pt idx="2">
                  <c:v>23</c:v>
                </c:pt>
                <c:pt idx="3">
                  <c:v>110</c:v>
                </c:pt>
                <c:pt idx="4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passed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 + integration</c:v>
                  </c:pt>
                  <c:pt idx="1">
                    <c:v>Original browser suite</c:v>
                  </c:pt>
                  <c:pt idx="2">
                    <c:v>Journey suite</c:v>
                  </c:pt>
                  <c:pt idx="3">
                    <c:v>Extraction checks</c:v>
                  </c:pt>
                  <c:pt idx="4">
                    <c:v>Safety cases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F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ClearCare: a working desktop prototype for the AMD Developer Hackathon ACT III, Health and Wellbeing track. Everything shown uses synthetic patient data. The screenshot is a real frame of the running app, rendered in perspective. AMD claim: AI explanations, translations and the Care Agent's reasoning call the AMD-hosted endpoint developer.amd.com.cn/radeon/api/v1 with the DeepSeek-V4-Flash model; deterministic parts run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ClearCare addresses: the transition from supervised care to home. No statistics are quoted on this slide because we did not independently verify 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scenario used in both videos. The letter is synthetic (CLEARCARE_DEMO_AUTOMATION/fixtures/demo_arjun_appendectomy.pdf).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framing: these categories are good at what they are built for. ClearCare does not book visits, diagnose or prescribe.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screens are real frames from the recorded app (synthetic patient), rendered with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Accurate split of responsibilities: extraction, verification, calendar and safety gate are deterministic; AMD powers explanation, translation, open questions and the Care Agent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Emotional quality comes from helpfulness, consistency and plain language, not from pretending to be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code: server.js + lib/ext/*.js on loopback; public/ext/* in the browser; lib/ext/amd-provider.js calls the AMD endpoint. Inference is remote. We could not confirm whether this endpoint is the same service as the event FAQ's Token Factory or which GPUs serve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Texts are taken verbatim from docs/evidence/multilingual-eval.json (live AMD run, 17 Oct 2026). Medicine names, doses and numbers are locked as tokens before translation; a literal back-translation must pass the same fidelity verifier.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Measured: 7/7 dated visits on the right day and time, 4/4 undated visits kept off the calendar, 0 invented (tools/eval-calendar.mjs). Persistence verified with real page reloads (journey J03–J05).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Safety-gate challenge set: 20/20 urgent messages escalated, 0/12 false alarms, 9/9 medicine-change, 4/4 prescribing, 2/2 skip-visit. Written by the team — not an independent red team. See CLEARCARE_MEDICAL_SAFETY.md.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video URL exists yet; upload the MP4s and add the link here. The QR code points to the real public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comes from files in docs/evidence (CLEARCARE_TEST_RESULTS.md explains methods and denominators). The 1 skipped browser test needs OCR tools not installed on the test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is argued from the workflow, not from unverified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verified in CLEARCARE_TEST_RESULTS.md; right column is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human promise and the verified engineering. Invite judges to the repository and the walkthrough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_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0"/>
                </a:solidFill>
              </a:rPr>
              <a:t>ClearCare · AMD Developer Hackathon: ACT III ·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</a:rPr>
              <a:t>ClearCare · AMD Developer Hackathon: ACT III ·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1stsimplifycode/ClearCare-Understand-My-Care-Instructions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1stsimplifycode/ClearCare-Understand-My-Care-Instructions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3d-screenshot" descr="ClearCare Today view (real screenshot) in perspe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822960"/>
            <a:ext cx="6400800" cy="3968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288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</a:rPr>
              <a:t>ClearCare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Recovery deserves understanding.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DF"/>
                </a:solidFill>
              </a:rPr>
              <a:t>Turns a patient’s own discharge instructions into a clear, multilingual, voice-supported daily recovery plan — without adding medical advice.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B0"/>
                </a:solidFill>
              </a:rPr>
              <a:t>AI language work runs on AMD Developer Cloud (model DeepSeek-V4-Flash) · Health and Wellbeing 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The forgotten part of care: the first weeks at home</a:t>
            </a:r>
            <a:endParaRPr lang="en-US" sz="3400" dirty="0"/>
          </a:p>
        </p:txBody>
      </p:sp>
      <p:sp>
        <p:nvSpPr>
          <p:cNvPr id="3" name="step-depth"/>
          <p:cNvSpPr/>
          <p:nvPr/>
        </p:nvSpPr>
        <p:spPr>
          <a:xfrm>
            <a:off x="841248" y="4005072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step-1"/>
          <p:cNvSpPr/>
          <p:nvPr/>
        </p:nvSpPr>
        <p:spPr>
          <a:xfrm>
            <a:off x="731520" y="3840480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3E6A8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Hospital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617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</a:rPr>
              <a:t>Clinicians, nurses and monitors around the patient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4096512" y="4343400"/>
            <a:ext cx="347472" cy="411480"/>
          </a:xfrm>
          <a:prstGeom prst="rightArrow">
            <a:avLst/>
          </a:prstGeom>
          <a:solidFill>
            <a:srgbClr val="7FE3E8"/>
          </a:solidFill>
          <a:ln/>
        </p:spPr>
      </p:sp>
      <p:sp>
        <p:nvSpPr>
          <p:cNvPr id="8" name="step-depth"/>
          <p:cNvSpPr/>
          <p:nvPr/>
        </p:nvSpPr>
        <p:spPr>
          <a:xfrm>
            <a:off x="4590288" y="3319272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step-2"/>
          <p:cNvSpPr/>
          <p:nvPr/>
        </p:nvSpPr>
        <p:spPr>
          <a:xfrm>
            <a:off x="4480560" y="3154680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1C8A8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Discharge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</a:rPr>
              <a:t>A few minutes of explanation and several pages of instructions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7845552" y="3657600"/>
            <a:ext cx="347472" cy="411480"/>
          </a:xfrm>
          <a:prstGeom prst="rightArrow">
            <a:avLst/>
          </a:prstGeom>
          <a:solidFill>
            <a:srgbClr val="7FE3E8"/>
          </a:solidFill>
          <a:ln/>
        </p:spPr>
      </p:sp>
      <p:sp>
        <p:nvSpPr>
          <p:cNvPr id="13" name="step-depth"/>
          <p:cNvSpPr/>
          <p:nvPr/>
        </p:nvSpPr>
        <p:spPr>
          <a:xfrm>
            <a:off x="8339328" y="2633472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step-3"/>
          <p:cNvSpPr/>
          <p:nvPr/>
        </p:nvSpPr>
        <p:spPr>
          <a:xfrm>
            <a:off x="8229600" y="2468880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E2574C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Recovery at home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246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</a:rPr>
              <a:t>The family is now responsible for medicines, warning signs and visits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Support drops sharply at exactly the moment responsibility moves to the family.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Arjun is twelve. His mother has four pages and a worried evening</a:t>
            </a:r>
            <a:endParaRPr lang="en-US" sz="3400" dirty="0"/>
          </a:p>
        </p:txBody>
      </p:sp>
      <p:sp>
        <p:nvSpPr>
          <p:cNvPr id="3" name="story-card"/>
          <p:cNvSpPr/>
          <p:nvPr/>
        </p:nvSpPr>
        <p:spPr>
          <a:xfrm>
            <a:off x="548640" y="146304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synthetic but realistic story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After an appendix operation, Arjun’s discharge letter lists an antibiotic, a painkiller "only when needed", “Ondansetron 4” (four what?), “do not take ibuprofen”, wound care, no sports for two weeks, a follow-up with Dr. Mehta, and when to call 108.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His mother thinks in Kannada. The letter is in medical English. Nobody will be there at 2 a.m. when she wonders whether a second dose is allowed.</a:t>
            </a:r>
            <a:endParaRPr lang="en-US" sz="1500" dirty="0"/>
          </a:p>
        </p:txBody>
      </p:sp>
      <p:sp>
        <p:nvSpPr>
          <p:cNvPr id="5" name="icon-circle"/>
          <p:cNvSpPr/>
          <p:nvPr/>
        </p:nvSpPr>
        <p:spPr>
          <a:xfrm>
            <a:off x="6675120" y="1600200"/>
            <a:ext cx="457200" cy="457200"/>
          </a:xfrm>
          <a:prstGeom prst="ellipse">
            <a:avLst/>
          </a:prstGeom>
          <a:solidFill>
            <a:srgbClr val="4CC9D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Unclear instructions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Missing units, conflicting doses, vague dates</a:t>
            </a:r>
            <a:endParaRPr lang="en-US" sz="1400" dirty="0"/>
          </a:p>
        </p:txBody>
      </p:sp>
      <p:sp>
        <p:nvSpPr>
          <p:cNvPr id="9" name="icon-circle"/>
          <p:cNvSpPr/>
          <p:nvPr/>
        </p:nvSpPr>
        <p:spPr>
          <a:xfrm>
            <a:off x="6675120" y="269748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अ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Language barrier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3035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Care happens in the family’s language</a:t>
            </a:r>
            <a:endParaRPr lang="en-US" sz="1400" dirty="0"/>
          </a:p>
        </p:txBody>
      </p:sp>
      <p:sp>
        <p:nvSpPr>
          <p:cNvPr id="13" name="icon-circle"/>
          <p:cNvSpPr/>
          <p:nvPr/>
        </p:nvSpPr>
        <p:spPr>
          <a:xfrm>
            <a:off x="6675120" y="379476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Daily follow-through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133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Which dose, which day, which visit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6675120" y="4892040"/>
            <a:ext cx="457200" cy="45720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Knowing when to get help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230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Warning signs buried in paragraphs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Existing tools solve neighbouring problems</a:t>
            </a:r>
            <a:endParaRPr lang="en-US" sz="3400" dirty="0"/>
          </a:p>
        </p:txBody>
      </p:sp>
      <p:graphicFrame>
        <p:nvGraphicFramePr>
          <p:cNvPr id="5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Built for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is left for the family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Telemedicine and booking platforms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Finding and consulting clinicians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Understanding and following the plan at home, every day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General medical chatbots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Open health questions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Answers limited to their own papers, checked before display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Medication reminder apps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Reminders the user types in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A schedule taken from the clinician’s document, with unclear items flagged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Translation tools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Any text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Doses and medicine names guaranteed unchanged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182B"/>
                          </a:solidFill>
                        </a:rPr>
                        <a:t>ClearCare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182B"/>
                          </a:solidFill>
                        </a:rPr>
                        <a:t>The first weeks after discharge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182B"/>
                          </a:solidFill>
                        </a:rPr>
                        <a:t>Source-grounded plan · calendar · voice · own language · clear limits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F80"/>
                </a:solidFill>
              </a:rPr>
              <a:t>Compared by category purpose, not by specific products. No market study was done; see CLEARCARE_DIFFERENTIATION.md.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Introducing ClearCare</a:t>
            </a:r>
            <a:endParaRPr lang="en-US" sz="3400" dirty="0"/>
          </a:p>
        </p:txBody>
      </p:sp>
      <p:pic>
        <p:nvPicPr>
          <p:cNvPr id="3" name="layered-screens" descr="Three real ClearCare screens layered in depth: Today, calendar, Care Ag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6949440" cy="4586630"/>
          </a:xfrm>
          <a:prstGeom prst="rect">
            <a:avLst/>
          </a:prstGeom>
        </p:spPr>
      </p:pic>
      <p:sp>
        <p:nvSpPr>
          <p:cNvPr id="4" name="icon-circle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4CC9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82B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</a:rPr>
              <a:t>Reads the papers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DF"/>
                </a:solidFill>
              </a:rPr>
              <a:t>PDF read on this computer; every item keeps its source line</a:t>
            </a:r>
            <a:endParaRPr lang="en-US" sz="1400" dirty="0"/>
          </a:p>
        </p:txBody>
      </p:sp>
      <p:sp>
        <p:nvSpPr>
          <p:cNvPr id="8" name="icon-circle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82B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</a:rPr>
              <a:t>Plans the day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DF"/>
                </a:solidFill>
              </a:rPr>
              <a:t>Today view and a family calendar filled automatically</a:t>
            </a:r>
            <a:endParaRPr lang="en-US" sz="1400" dirty="0"/>
          </a:p>
        </p:txBody>
      </p:sp>
      <p:sp>
        <p:nvSpPr>
          <p:cNvPr id="12" name="icon-circle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82B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</a:rPr>
              <a:t>Speaks your language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DF"/>
                </a:solidFill>
              </a:rPr>
              <a:t>English, Spanish, Hindi built in; 38 more via AMD AI, verified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82B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873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</a:rPr>
              <a:t>Knows its limits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DF"/>
                </a:solidFill>
              </a:rPr>
              <a:t>Unclear items flagged; urgent messages escalate; no prescribing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discharge letter to daily follow-through</a:t>
            </a:r>
            <a:endParaRPr lang="en-US" sz="3400" dirty="0"/>
          </a:p>
        </p:txBody>
      </p:sp>
      <p:sp>
        <p:nvSpPr>
          <p:cNvPr id="3" name="flow-depth"/>
          <p:cNvSpPr/>
          <p:nvPr/>
        </p:nvSpPr>
        <p:spPr>
          <a:xfrm>
            <a:off x="612648" y="21031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4" name="flow-1"/>
          <p:cNvSpPr/>
          <p:nvPr/>
        </p:nvSpPr>
        <p:spPr>
          <a:xfrm>
            <a:off x="548640" y="201168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1051560" y="219456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889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Discharge PDF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38328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Read locally (pdf.js)</a:t>
            </a:r>
            <a:endParaRPr lang="en-US" sz="1200" dirty="0"/>
          </a:p>
        </p:txBody>
      </p:sp>
      <p:sp>
        <p:nvSpPr>
          <p:cNvPr id="9" name="flow-depth"/>
          <p:cNvSpPr/>
          <p:nvPr/>
        </p:nvSpPr>
        <p:spPr>
          <a:xfrm>
            <a:off x="2231136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10" name="flow-2"/>
          <p:cNvSpPr/>
          <p:nvPr/>
        </p:nvSpPr>
        <p:spPr>
          <a:xfrm>
            <a:off x="2167128" y="23317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2670048" y="251460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00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31089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37033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Rules keep source line + page</a:t>
            </a:r>
            <a:endParaRPr lang="en-US" sz="1200" dirty="0"/>
          </a:p>
        </p:txBody>
      </p:sp>
      <p:sp>
        <p:nvSpPr>
          <p:cNvPr id="15" name="flow-depth"/>
          <p:cNvSpPr/>
          <p:nvPr/>
        </p:nvSpPr>
        <p:spPr>
          <a:xfrm>
            <a:off x="3849624" y="21031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16" name="flow-3"/>
          <p:cNvSpPr/>
          <p:nvPr/>
        </p:nvSpPr>
        <p:spPr>
          <a:xfrm>
            <a:off x="3785616" y="201168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17" name="icon-circle"/>
          <p:cNvSpPr/>
          <p:nvPr/>
        </p:nvSpPr>
        <p:spPr>
          <a:xfrm>
            <a:off x="4288536" y="219456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885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7889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338328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Unclear or high-risk → flagged</a:t>
            </a:r>
            <a:endParaRPr lang="en-US" sz="1200" dirty="0"/>
          </a:p>
        </p:txBody>
      </p:sp>
      <p:sp>
        <p:nvSpPr>
          <p:cNvPr id="21" name="flow-depth"/>
          <p:cNvSpPr/>
          <p:nvPr/>
        </p:nvSpPr>
        <p:spPr>
          <a:xfrm>
            <a:off x="5468112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22" name="flow-4"/>
          <p:cNvSpPr/>
          <p:nvPr/>
        </p:nvSpPr>
        <p:spPr>
          <a:xfrm>
            <a:off x="5404104" y="23317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23" name="icon-circle"/>
          <p:cNvSpPr/>
          <p:nvPr/>
        </p:nvSpPr>
        <p:spPr>
          <a:xfrm>
            <a:off x="5907024" y="251460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0702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13832" y="31089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Recovery plan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13832" y="37033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Today view, plain words</a:t>
            </a:r>
            <a:endParaRPr lang="en-US" sz="1200" dirty="0"/>
          </a:p>
        </p:txBody>
      </p:sp>
      <p:sp>
        <p:nvSpPr>
          <p:cNvPr id="27" name="flow-depth"/>
          <p:cNvSpPr/>
          <p:nvPr/>
        </p:nvSpPr>
        <p:spPr>
          <a:xfrm>
            <a:off x="7086600" y="21031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28" name="flow-5"/>
          <p:cNvSpPr/>
          <p:nvPr/>
        </p:nvSpPr>
        <p:spPr>
          <a:xfrm>
            <a:off x="7022592" y="201168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29" name="icon-circle"/>
          <p:cNvSpPr/>
          <p:nvPr/>
        </p:nvSpPr>
        <p:spPr>
          <a:xfrm>
            <a:off x="7525512" y="219456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255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7889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Calendar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38328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Calendar Agent fills it</a:t>
            </a:r>
            <a:endParaRPr lang="en-US" sz="1200" dirty="0"/>
          </a:p>
        </p:txBody>
      </p:sp>
      <p:sp>
        <p:nvSpPr>
          <p:cNvPr id="33" name="flow-depth"/>
          <p:cNvSpPr/>
          <p:nvPr/>
        </p:nvSpPr>
        <p:spPr>
          <a:xfrm>
            <a:off x="8705088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34" name="flow-6"/>
          <p:cNvSpPr/>
          <p:nvPr/>
        </p:nvSpPr>
        <p:spPr>
          <a:xfrm>
            <a:off x="8641080" y="23317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CC9D2"/>
            </a:solidFill>
            <a:prstDash val="solid"/>
          </a:ln>
        </p:spPr>
      </p:sp>
      <p:sp>
        <p:nvSpPr>
          <p:cNvPr id="35" name="icon-circle"/>
          <p:cNvSpPr/>
          <p:nvPr/>
        </p:nvSpPr>
        <p:spPr>
          <a:xfrm>
            <a:off x="9144000" y="251460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750808" y="31089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Voice + language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750808" y="37033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Read aloud, 41 languages</a:t>
            </a:r>
            <a:endParaRPr lang="en-US" sz="1200" dirty="0"/>
          </a:p>
        </p:txBody>
      </p:sp>
      <p:sp>
        <p:nvSpPr>
          <p:cNvPr id="39" name="flow-depth"/>
          <p:cNvSpPr/>
          <p:nvPr/>
        </p:nvSpPr>
        <p:spPr>
          <a:xfrm>
            <a:off x="10323576" y="210312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0B1F33">
              <a:alpha val="15000"/>
            </a:srgbClr>
          </a:solidFill>
          <a:ln/>
        </p:spPr>
      </p:sp>
      <p:sp>
        <p:nvSpPr>
          <p:cNvPr id="40" name="flow-7"/>
          <p:cNvSpPr/>
          <p:nvPr/>
        </p:nvSpPr>
        <p:spPr>
          <a:xfrm>
            <a:off x="10259568" y="201168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DECEA"/>
          </a:solidFill>
          <a:ln w="19050">
            <a:solidFill>
              <a:srgbClr val="E2574C"/>
            </a:solidFill>
            <a:prstDash val="solid"/>
          </a:ln>
        </p:spPr>
      </p:sp>
      <p:sp>
        <p:nvSpPr>
          <p:cNvPr id="41" name="icon-circle"/>
          <p:cNvSpPr/>
          <p:nvPr/>
        </p:nvSpPr>
        <p:spPr>
          <a:xfrm>
            <a:off x="10762488" y="2194560"/>
            <a:ext cx="457200" cy="45720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76248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369296" y="27889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Safety escalation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369296" y="338328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Urgent → 108 / 112 / 911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Deterministic code on the user’s computer does steps 1–5; the AMD model explains, translates and reasons — and every AI output is checked against the source before it is shown.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Attentive like family, bounded like a good system</a:t>
            </a:r>
            <a:endParaRPr lang="en-US" sz="3400" dirty="0"/>
          </a:p>
        </p:txBody>
      </p:sp>
      <p:sp>
        <p:nvSpPr>
          <p:cNvPr id="3" name="generic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clearcare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F80"/>
                </a:solidFill>
              </a:rPr>
              <a:t>Generic chatbot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ClearCare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–  Answers from general knowledge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✓  Answers only from the family’s own papers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–  Same answer style for everyone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✓  “Make that easier” → a simpler wording of the same instruction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–  Language = translation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✓  Medicine names, doses and numbers locked; each line verified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89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–  Forgets between sessions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389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✓  Keeps the plan, calendar and ticked doses on this computer (with consent)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–  May reassure or advise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✓  Never judges symptoms; urgent words → emergency numbers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ClearCare always says it is an AI tool, not a doctor or a person.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Architecture: local by default, AMD for language intelligence</a:t>
            </a:r>
            <a:endParaRPr lang="en-US" sz="3400" dirty="0"/>
          </a:p>
        </p:txBody>
      </p:sp>
      <p:sp>
        <p:nvSpPr>
          <p:cNvPr id="3" name="layer-ui-depth"/>
          <p:cNvSpPr/>
          <p:nvPr/>
        </p:nvSpPr>
        <p:spPr>
          <a:xfrm>
            <a:off x="676656" y="1517904"/>
            <a:ext cx="3108960" cy="1920240"/>
          </a:xfrm>
          <a:prstGeom prst="roundRect">
            <a:avLst>
              <a:gd name="adj" fmla="val 5714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layer-ui"/>
          <p:cNvSpPr/>
          <p:nvPr/>
        </p:nvSpPr>
        <p:spPr>
          <a:xfrm>
            <a:off x="548640" y="1371600"/>
            <a:ext cx="3108960" cy="1920240"/>
          </a:xfrm>
          <a:prstGeom prst="roundRect">
            <a:avLst>
              <a:gd name="adj" fmla="val 5714"/>
            </a:avLst>
          </a:prstGeom>
          <a:solidFill>
            <a:srgbClr val="15406E">
              <a:alpha val="80000"/>
            </a:srgbClr>
          </a:solidFill>
          <a:ln w="12700">
            <a:solidFill>
              <a:srgbClr val="7FE3E8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Desktop window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Microsoft Edge (app mode) · plain ES modules · pdf.js · Web Speech voices · localStorage (plan, calendar, ticks)</a:t>
            </a:r>
            <a:endParaRPr lang="en-US" sz="1200" dirty="0"/>
          </a:p>
        </p:txBody>
      </p:sp>
      <p:sp>
        <p:nvSpPr>
          <p:cNvPr id="7" name="layer-server-depth"/>
          <p:cNvSpPr/>
          <p:nvPr/>
        </p:nvSpPr>
        <p:spPr>
          <a:xfrm>
            <a:off x="676656" y="3803904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8" name="layer-server"/>
          <p:cNvSpPr/>
          <p:nvPr/>
        </p:nvSpPr>
        <p:spPr>
          <a:xfrm>
            <a:off x="548640" y="365760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123A63">
              <a:alpha val="80000"/>
            </a:srgbClr>
          </a:solidFill>
          <a:ln w="12700">
            <a:solidFill>
              <a:srgbClr val="7FE3E8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Local Node.js server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Binds 127.0.0.1 / ::1 only · holds the AMD key · request queue (1 per minute) · telemetry without patient text</a:t>
            </a:r>
            <a:endParaRPr lang="en-US" sz="1200" dirty="0"/>
          </a:p>
        </p:txBody>
      </p:sp>
      <p:sp>
        <p:nvSpPr>
          <p:cNvPr id="11" name="layer-core-depth"/>
          <p:cNvSpPr/>
          <p:nvPr/>
        </p:nvSpPr>
        <p:spPr>
          <a:xfrm>
            <a:off x="4242816" y="1517904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2" name="layer-core"/>
          <p:cNvSpPr/>
          <p:nvPr/>
        </p:nvSpPr>
        <p:spPr>
          <a:xfrm>
            <a:off x="4114800" y="1371600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0E5E6F">
              <a:alpha val="80000"/>
            </a:srgbClr>
          </a:solidFill>
          <a:ln w="12700">
            <a:solidFill>
              <a:srgbClr val="7FE3E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Deterministic core (no AI)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87452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Extraction engine (source line + page)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Fidelity verifier (numbers, units, names, negation, frequency, severity)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Safety gate (5 languages)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Calendar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Care Agent planner +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Built-in EN / ES / HI wording</a:t>
            </a:r>
            <a:endParaRPr lang="en-US" sz="1200" dirty="0"/>
          </a:p>
        </p:txBody>
      </p:sp>
      <p:sp>
        <p:nvSpPr>
          <p:cNvPr id="15" name="layer-amd-depth"/>
          <p:cNvSpPr/>
          <p:nvPr/>
        </p:nvSpPr>
        <p:spPr>
          <a:xfrm>
            <a:off x="8449056" y="1517904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6" name="layer-amd"/>
          <p:cNvSpPr/>
          <p:nvPr/>
        </p:nvSpPr>
        <p:spPr>
          <a:xfrm>
            <a:off x="8321040" y="137160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B54A40">
              <a:alpha val="80000"/>
            </a:srgbClr>
          </a:solidFill>
          <a:ln w="12700">
            <a:solidFill>
              <a:srgbClr val="7FE3E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AMD Developer Cloud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87452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Endpoint developer.amd.com.cn/radeon/api/v1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Model: DeepSeek-V4-Flash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Explain one instruction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Answer open questions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Translate (38 languages)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• Care Agent reasoning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EE"/>
                </a:solidFill>
              </a:rPr>
              <a:t>Every output verified before display</a:t>
            </a:r>
            <a:endParaRPr lang="en-US" sz="1200" dirty="0"/>
          </a:p>
        </p:txBody>
      </p:sp>
      <p:sp>
        <p:nvSpPr>
          <p:cNvPr id="19" name="arrow-amd"/>
          <p:cNvSpPr/>
          <p:nvPr/>
        </p:nvSpPr>
        <p:spPr>
          <a:xfrm>
            <a:off x="7882128" y="3291840"/>
            <a:ext cx="411480" cy="457200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20" name="arrow-core"/>
          <p:cNvSpPr/>
          <p:nvPr/>
        </p:nvSpPr>
        <p:spPr>
          <a:xfrm>
            <a:off x="3685032" y="3291840"/>
            <a:ext cx="411480" cy="457200"/>
          </a:xfrm>
          <a:prstGeom prst="rightArrow">
            <a:avLst/>
          </a:prstGeom>
          <a:solidFill>
            <a:srgbClr val="7FE3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84B"/>
                </a:solidFill>
              </a:rPr>
              <a:t>Not claimed: local GPU or ROCm execution. Unverified: which AMD hardware serves the hosted endpoint.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Same medical facts in every language</a:t>
            </a:r>
            <a:endParaRPr lang="en-US" sz="3400" dirty="0"/>
          </a:p>
        </p:txBody>
      </p:sp>
      <p:sp>
        <p:nvSpPr>
          <p:cNvPr id="3" name="lang-0"/>
          <p:cNvSpPr/>
          <p:nvPr/>
        </p:nvSpPr>
        <p:spPr>
          <a:xfrm>
            <a:off x="548640" y="14630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English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rules (not AI)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taking Apixaban 5 mg, twice a day. Do not stop taking it unless your provider tells you to. This is a high-alert medicine, so ClearCare keeps it on your “check with your care team” list and doesn’t set reminders for it.</a:t>
            </a:r>
            <a:endParaRPr lang="en-US" sz="1300" dirty="0"/>
          </a:p>
        </p:txBody>
      </p:sp>
      <p:sp>
        <p:nvSpPr>
          <p:cNvPr id="7" name="lang-1"/>
          <p:cNvSpPr/>
          <p:nvPr/>
        </p:nvSpPr>
        <p:spPr>
          <a:xfrm>
            <a:off x="4297680" y="14630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हिन्दी · Hindi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built-in rules (not AI)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Apixaban 5 mg, दिन में दो बार लेते रहें। जब तक डॉक्टर न कहें, इसे लेना बंद न करें। यह ज़्यादा जोखिम वाली दवा है, इसलिए ClearCare इसे “देखभाल टीम से पूछें” सूची में रखता है और इसके रिमाइंडर नहीं लगाता।</a:t>
            </a:r>
            <a:endParaRPr lang="en-US" sz="1300" dirty="0"/>
          </a:p>
        </p:txBody>
      </p:sp>
      <p:sp>
        <p:nvSpPr>
          <p:cNvPr id="11" name="lang-2"/>
          <p:cNvSpPr/>
          <p:nvPr/>
        </p:nvSpPr>
        <p:spPr>
          <a:xfrm>
            <a:off x="8046720" y="14630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ಕನ್ನಡ · Kannada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AMD AI · verified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Apixaban 5 mg ಅನ್ನು ದಿನಕ್ಕೆ ಎರಡು ಬಾರಿ ತೆಗೆದುಕೊಳ್ಳುತ್ತಿರಿ. ನಿಮ್ಮ ಆರೈಕೆದಾರರು ಹೇಳದ ಹೊರತು ಅದನ್ನು ನಿಲ್ಲಿಸಬೇಡಿ. ಇದು ಹೆಚ್ಚಿನ-ಎಚ್ಚರಿಕೆಯ ಔಷಧಿಯಾಗಿದೆ, ಆದ್ದರಿಂದ ClearCare ಅದನ್ನು ನಿಮ್ಮ “ಆರೈಕೆ ತಂಡದೊಂದಿಗೆ ಪರಿಶೀಲಿಸಿ” ಪಟ್ಟಿಯಲ್ಲಿ ಇರಿಸುತ್ತದೆ ಮತ್ತು ಅದಕ್ಕೆ ಜ್ಞಾಪನೆಗಳನ್ನು ಹೊಂದಿಸುವುದಿಲ್ಲ.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12/12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Hindi lines with identical numbers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892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12/12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Kannada lines verified (AMD)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892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12/12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Kannada lines with names unchanged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Automated checks on 12 synthetic instructions. Not yet reviewed by qualified human translators.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A recovery calendar that fills itself — and explains why</a:t>
            </a:r>
            <a:endParaRPr lang="en-US" sz="3400" dirty="0"/>
          </a:p>
        </p:txBody>
      </p:sp>
      <p:pic>
        <p:nvPicPr>
          <p:cNvPr id="3" name="calendar-3d-screenshot" descr="Real ClearCare family calendar with the agent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7132320" cy="45646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Calendar Agent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8470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7EE"/>
                </a:solidFill>
              </a:rPr>
              <a:t>Adds every dated visit and medicine course from the papers; logs each decision with the source line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⚠ instead of guesses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9626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7EE"/>
                </a:solidFill>
              </a:rPr>
              <a:t>Missing place, unit or date → shown with the reason, no reminders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694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Completion tracking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07822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7EE"/>
                </a:solidFill>
              </a:rPr>
              <a:t>Visits attended, doses ticked, “missed?” prompts; kept after a refresh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809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Hear my calendar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19379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7EE"/>
                </a:solidFill>
              </a:rPr>
              <a:t>Next verified visit, today’s medicines, items to confirm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Safety is architecture, not a disclaimer</a:t>
            </a:r>
            <a:endParaRPr lang="en-US" sz="3400" dirty="0"/>
          </a:p>
        </p:txBody>
      </p:sp>
      <p:sp>
        <p:nvSpPr>
          <p:cNvPr id="3" name="safety-0"/>
          <p:cNvSpPr/>
          <p:nvPr/>
        </p:nvSpPr>
        <p:spPr>
          <a:xfrm>
            <a:off x="548640" y="14630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🚨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Urgent symptoms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214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Chest pain, breathing trouble, vomiting blood… in 5 languages → emergency numbers, no AI</a:t>
            </a:r>
            <a:endParaRPr lang="en-US" sz="1400" dirty="0"/>
          </a:p>
        </p:txBody>
      </p:sp>
      <p:sp>
        <p:nvSpPr>
          <p:cNvPr id="8" name="safety-1"/>
          <p:cNvSpPr/>
          <p:nvPr/>
        </p:nvSpPr>
        <p:spPr>
          <a:xfrm>
            <a:off x="6172200" y="14630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Care changes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214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“Double / skip / stop / prescribe” → care team, with the document’s own words</a:t>
            </a:r>
            <a:endParaRPr lang="en-US" sz="1400" dirty="0"/>
          </a:p>
        </p:txBody>
      </p:sp>
      <p:sp>
        <p:nvSpPr>
          <p:cNvPr id="13" name="safety-2"/>
          <p:cNvSpPr/>
          <p:nvPr/>
        </p:nvSpPr>
        <p:spPr>
          <a:xfrm>
            <a:off x="548640" y="3291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3E6A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Verified AI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502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Numbers, units, names, negations checked; failures withheld</a:t>
            </a:r>
            <a:endParaRPr lang="en-US" sz="1400" dirty="0"/>
          </a:p>
        </p:txBody>
      </p:sp>
      <p:sp>
        <p:nvSpPr>
          <p:cNvPr id="18" name="safety-3"/>
          <p:cNvSpPr/>
          <p:nvPr/>
        </p:nvSpPr>
        <p:spPr>
          <a:xfrm>
            <a:off x="6172200" y="3291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Uncertainty visible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502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F80"/>
                </a:solidFill>
              </a:rPr>
              <a:t>Unclear or high-risk items flagged, never scheduled by guessing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Live example: AMD’s simplification of “Acetaminophen 500 mg … every 6 hours as needed” dropped the interval and “as needed” — ClearCare withheld it (number_missing, pair_missing, pair_missing, prn_lost).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See it working</a:t>
            </a:r>
            <a:endParaRPr lang="en-US" sz="3400" dirty="0"/>
          </a:p>
        </p:txBody>
      </p:sp>
      <p:sp>
        <p:nvSpPr>
          <p:cNvPr id="3" name="shot-frame-0"/>
          <p:cNvSpPr/>
          <p:nvPr/>
        </p:nvSpPr>
        <p:spPr>
          <a:xfrm>
            <a:off x="475488" y="1389888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E3E8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35000"/>
              </a:srgbClr>
            </a:outerShdw>
          </a:effectLst>
        </p:spPr>
      </p:sp>
      <p:pic>
        <p:nvPicPr>
          <p:cNvPr id="4" name="real-screenshot-0" descr="Care Agent answer with steps and 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688336" cy="1682496"/>
          </a:xfrm>
          <a:prstGeom prst="rect">
            <a:avLst/>
          </a:prstGeom>
        </p:spPr>
      </p:pic>
      <p:sp>
        <p:nvSpPr>
          <p:cNvPr id="5" name="shot-frame-1"/>
          <p:cNvSpPr/>
          <p:nvPr/>
        </p:nvSpPr>
        <p:spPr>
          <a:xfrm>
            <a:off x="3447288" y="1389888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E3E8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35000"/>
              </a:srgbClr>
            </a:outerShdw>
          </a:effectLst>
        </p:spPr>
      </p:sp>
      <p:pic>
        <p:nvPicPr>
          <p:cNvPr id="6" name="real-screenshot-1" descr="Emergency banner and medicine-change respon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63040"/>
            <a:ext cx="2688336" cy="1682496"/>
          </a:xfrm>
          <a:prstGeom prst="rect">
            <a:avLst/>
          </a:prstGeom>
        </p:spPr>
      </p:pic>
      <p:sp>
        <p:nvSpPr>
          <p:cNvPr id="7" name="shot-frame-2"/>
          <p:cNvSpPr/>
          <p:nvPr/>
        </p:nvSpPr>
        <p:spPr>
          <a:xfrm>
            <a:off x="6419088" y="1389888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E3E8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35000"/>
              </a:srgbClr>
            </a:outerShdw>
          </a:effectLst>
        </p:spPr>
      </p:sp>
      <p:pic>
        <p:nvPicPr>
          <p:cNvPr id="8" name="real-screenshot-2" descr="Plan translated to Kanna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2688336" cy="16824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32918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Care Agent · live AMD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3520440" y="32918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Safety responses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492240" y="32918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Kannada · AMD, verified</a:t>
            </a:r>
            <a:endParaRPr lang="en-US" sz="1300" dirty="0"/>
          </a:p>
        </p:txBody>
      </p:sp>
      <p:sp>
        <p:nvSpPr>
          <p:cNvPr id="12" name="qr-card"/>
          <p:cNvSpPr/>
          <p:nvPr/>
        </p:nvSpPr>
        <p:spPr>
          <a:xfrm>
            <a:off x="9646920" y="13716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13" name="qr-repo" descr="QR code for the public GitHub reposi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463040"/>
            <a:ext cx="1783080" cy="1783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52560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6DF"/>
                </a:solidFill>
              </a:rPr>
              <a:t>github.com/1stsimplifycode/ClearCare-Understand-My-Care-Instructions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114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Videos in the submission package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</a:rPr>
              <a:t>CLEARCARE_AMD_ACT_III_DEMO.mp4 — 3–5 minute hackathon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</a:rPr>
              <a:t>Stakeholder walkthrough: scripted and reproducible (CLEARCARE_DEMO_AUTOMATION), not yet rendered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B0"/>
                </a:solidFill>
              </a:rPr>
              <a:t>Screens are real recordings of the running app with synthetic data. The recorder cannot capture the app’s own speech; the voice in use is shown on screen.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Tested, not just demonstrated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54864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110/110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extraction checks on 11 synthetic documents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338328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6616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clinically significant extraction errors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621792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47/47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safety challenge cases handled as intended</a:t>
            </a:r>
            <a:endParaRPr lang="en-US" sz="1300" dirty="0"/>
          </a:p>
        </p:txBody>
      </p:sp>
      <p:sp>
        <p:nvSpPr>
          <p:cNvPr id="12" name="stat-3"/>
          <p:cNvSpPr/>
          <p:nvPr/>
        </p:nvSpPr>
        <p:spPr>
          <a:xfrm>
            <a:off x="905256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3544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23/23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patient-journey browser checks (4 runs)</a:t>
            </a:r>
            <a:endParaRPr lang="en-US" sz="1300" dirty="0"/>
          </a:p>
        </p:txBody>
      </p:sp>
      <p:graphicFrame>
        <p:nvGraphicFramePr>
          <p:cNvPr id="15" name="results-chart" descr=""/>
          <p:cNvGraphicFramePr/>
          <p:nvPr/>
        </p:nvGraphicFramePr>
        <p:xfrm>
          <a:off x="548640" y="3154680"/>
          <a:ext cx="6766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589520" y="32004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Live AMD (17 Oct 2026)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Explanation: 3.8 s (withheld by verifier)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Care Agent: 9.7 s, verified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Kannada, 12 lines: 99.8 s, 12/12 verified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 failure and timeout reported correctly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E2574C"/>
                </a:solidFill>
              </a:rPr>
              <a:t>Few samples on a rate-limited key: not a benchmark. No clinical-outcome claims.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benefits, and how it could be adopted</a:t>
            </a:r>
            <a:endParaRPr lang="en-US" sz="3400" dirty="0"/>
          </a:p>
        </p:txBody>
      </p:sp>
      <p:sp>
        <p:nvSpPr>
          <p:cNvPr id="3" name="benefit-0"/>
          <p:cNvSpPr/>
          <p:nvPr/>
        </p:nvSpPr>
        <p:spPr>
          <a:xfrm>
            <a:off x="548640" y="146304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1C8A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Patients and families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Understand and follow the plan they were given, in their own language, any time of day</a:t>
            </a:r>
            <a:endParaRPr lang="en-US" sz="1300" dirty="0"/>
          </a:p>
        </p:txBody>
      </p:sp>
      <p:sp>
        <p:nvSpPr>
          <p:cNvPr id="8" name="benefit-1"/>
          <p:cNvSpPr/>
          <p:nvPr/>
        </p:nvSpPr>
        <p:spPr>
          <a:xfrm>
            <a:off x="548640" y="278892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3E6A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Discharge and nursing teams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91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Fewer “what did they mean by…” calls; unclear lines surface as questions before they become errors</a:t>
            </a:r>
            <a:endParaRPr lang="en-US" sz="1300" dirty="0"/>
          </a:p>
        </p:txBody>
      </p:sp>
      <p:sp>
        <p:nvSpPr>
          <p:cNvPr id="13" name="benefit-2"/>
          <p:cNvSpPr/>
          <p:nvPr/>
        </p:nvSpPr>
        <p:spPr>
          <a:xfrm>
            <a:off x="548640" y="411480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Hospitals in multilingual regions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17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F80"/>
                </a:solidFill>
              </a:rPr>
              <a:t>One English discharge letter, many family languages, with doses guaranteed unchanged</a:t>
            </a:r>
            <a:endParaRPr lang="en-US" sz="1300" dirty="0"/>
          </a:p>
        </p:txBody>
      </p:sp>
      <p:sp>
        <p:nvSpPr>
          <p:cNvPr id="18" name="adoption"/>
          <p:cNvSpPr/>
          <p:nvPr/>
        </p:nvSpPr>
        <p:spPr>
          <a:xfrm>
            <a:off x="6949440" y="1463040"/>
            <a:ext cx="46634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23760" y="16916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Realistic adoption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Hospital gives ClearCare alongside the discharge letter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on the family’s computer; documents stay local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Care team reviews flagged questions at follow-up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Pilot first, with clinician-reviewed wording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 pilots, customers or partners exist yet. No market figures are claimed.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today, and what comes next</a:t>
            </a:r>
            <a:endParaRPr lang="en-US" sz="3400" dirty="0"/>
          </a:p>
        </p:txBody>
      </p:sp>
      <p:sp>
        <p:nvSpPr>
          <p:cNvPr id="3" name="implemented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4" name="planned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27000" dist="50800" dir="540000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✓ Implemented and tested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 Planned (not built)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Source-grounded extraction with flags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Today view, voice, pause/stop, speed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Calendar Agent, completion tracking, reminders, .ics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EN/ES/HI built in; 38 languages via AMD, verified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Care Agent with explainable trace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Safety gate in 5 languages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AMD request pacing and observability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Hosted demo URL for judges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Clinician review of wording and safety texts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Fluent human review of Hindi, Kannada and others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Caregiver usability study (plan in docs/)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Phone notifications and mobile layout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Scanned-PDF OCR on by default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F80"/>
                </a:solidFill>
              </a:rPr>
              <a:t>Higher-rate AMD key; more languages built 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F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-3d-screenshot" descr="ClearCare calendar (real screenshot) in perspe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60" cy="36283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37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Leaving the hospital shouldn’t mean facing recovery alone.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3931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DF"/>
                </a:solidFill>
              </a:rPr>
              <a:t>ClearCare explains the care that was prescribed — in the family’s language, every day, with clear limits — and AMD-powered AI does the language work, checked before anyone sees it.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github.com/1stsimplifycode/ClearCare-Understand-My-Care-Instructions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0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rCare Midnight">
  <a:themeElements>
    <a:clrScheme name="ClearCare Midnight">
      <a:dk1>
        <a:srgbClr val="0B1F33"/>
      </a:dk1>
      <a:lt1>
        <a:srgbClr val="FFFFFF"/>
      </a:lt1>
      <a:dk2>
        <a:srgbClr val="06182B"/>
      </a:dk2>
      <a:lt2>
        <a:srgbClr val="F6F1E7"/>
      </a:lt2>
      <a:accent1>
        <a:srgbClr val="4CC9D2"/>
      </a:accent1>
      <a:accent2>
        <a:srgbClr val="1C8A8F"/>
      </a:accent2>
      <a:accent3>
        <a:srgbClr val="E2574C"/>
      </a:accent3>
      <a:accent4>
        <a:srgbClr val="F2B84B"/>
      </a:accent4>
      <a:accent5>
        <a:srgbClr val="3E6A8F"/>
      </a:accent5>
      <a:accent6>
        <a:srgbClr val="5A6F80"/>
      </a:accent6>
      <a:hlink>
        <a:srgbClr val="1C8A8F"/>
      </a:hlink>
      <a:folHlink>
        <a:srgbClr val="3E6A8F"/>
      </a:folHlink>
    </a:clrScheme>
    <a:fontScheme name="ClearCare Mid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ClearCare — AMD Developer Hackathon: ACT III</dc:title>
  <dc:subject>PptxGenJS Presentation</dc:subject>
  <dc:creator>ClearCare team</dc:creator>
  <cp:lastModifiedBy>ClearCare team</cp:lastModifiedBy>
  <cp:revision>1</cp:revision>
  <dcterms:created xsi:type="dcterms:W3CDTF">2026-10-17T12:01:10Z</dcterms:created>
  <dcterms:modified xsi:type="dcterms:W3CDTF">2026-10-17T12:01:10Z</dcterms:modified>
</cp:coreProperties>
</file>